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130</c:v>
                </c:pt>
                <c:pt idx="2">
                  <c:v>120</c:v>
                </c:pt>
                <c:pt idx="3">
                  <c:v>160</c:v>
                </c:pt>
                <c:pt idx="4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95</c:v>
                </c:pt>
                <c:pt idx="2">
                  <c:v>100</c:v>
                </c:pt>
                <c:pt idx="3">
                  <c:v>110</c:v>
                </c:pt>
                <c:pt idx="4">
                  <c:v>120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110</c:v>
                </c:pt>
                <c:pt idx="1">
                  <c:v>105</c:v>
                </c:pt>
                <c:pt idx="2">
                  <c:v>115</c:v>
                </c:pt>
                <c:pt idx="3">
                  <c:v>125</c:v>
                </c:pt>
                <c:pt idx="4">
                  <c:v>140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95</c:v>
                </c:pt>
                <c:pt idx="1">
                  <c:v>115</c:v>
                </c:pt>
                <c:pt idx="2">
                  <c:v>135</c:v>
                </c:pt>
                <c:pt idx="3">
                  <c:v>145</c:v>
                </c:pt>
                <c:pt idx="4">
                  <c:v>155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 A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48</c:v>
                </c:pt>
                <c:pt idx="3">
                  <c:v>65</c:v>
                </c:pt>
                <c:pt idx="4">
                  <c:v>72</c:v>
                </c:pt>
                <c:pt idx="5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 B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40</c:v>
                </c:pt>
                <c:pt idx="2">
                  <c:v>35</c:v>
                </c:pt>
                <c:pt idx="3">
                  <c:v>50</c:v>
                </c:pt>
                <c:pt idx="4">
                  <c:v>60</c:v>
                </c:pt>
                <c:pt idx="5">
                  <c:v>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Hard-to-Scan Document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Document Parsing</a:t>
            </a:r>
          </a:p>
          <a:p>
            <a:pPr lvl="1">
              <a:defRPr sz="1600"/>
            </a:pPr>
            <a:r>
              <a:t>PDF &amp; Images</a:t>
            </a:r>
          </a:p>
          <a:p>
            <a:pPr lvl="1">
              <a:defRPr sz="1600"/>
            </a:pPr>
            <a:r>
              <a:t>Tables &amp; Charts</a:t>
            </a:r>
          </a:p>
          <a:p>
            <a:pPr lvl="1">
              <a:defRPr sz="1600"/>
            </a:pPr>
            <a:r>
              <a:t>Complex Formats</a:t>
            </a:r>
          </a:p>
          <a:p>
            <a:pPr>
              <a:defRPr sz="1800"/>
            </a:pPr>
            <a:r>
              <a:t>Best Practices</a:t>
            </a:r>
          </a:p>
          <a:p>
            <a:pPr lvl="1">
              <a:defRPr sz="1600"/>
            </a:pPr>
            <a:r>
              <a:t>Accuracy Metrics</a:t>
            </a:r>
          </a:p>
          <a:p>
            <a:pPr lvl="1">
              <a:defRPr sz="1600"/>
            </a:pPr>
            <a:r>
              <a:t>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Mixed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Document extraction is challenging when layouts are complex.</a:t>
            </a:r>
          </a:p>
          <a:p>
            <a:pPr>
              <a:defRPr sz="1400"/>
            </a:pPr>
            <a:r>
              <a:t>Multi-column designs require careful spatial awareness.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Complex 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10058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Col 1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Col 2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Col 3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Col 4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R4C0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Bar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863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Line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78638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Footnotes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is a sample document</a:t>
            </a:r>
            <a:r>
              <a:rPr/>
              <a:t>[1]</a:t>
            </a:r>
            <a:r>
              <a:t> with references</a:t>
            </a:r>
          </a:p>
          <a:p>
            <a:pPr>
              <a:defRPr sz="1600"/>
            </a:pPr>
            <a:r>
              <a:t>More content follows</a:t>
            </a:r>
            <a:r>
              <a:rPr/>
              <a:t>[2]</a:t>
            </a:r>
            <a:r>
              <a:t> in the document.</a:t>
            </a:r>
          </a:p>
          <a:p/>
          <a:p>
            <a:pPr>
              <a:defRPr sz="1100"/>
            </a:pPr>
            <a:r>
              <a:t>[1] First footnote here</a:t>
            </a:r>
          </a:p>
          <a:p>
            <a:pPr>
              <a:defRPr sz="1100"/>
            </a:pPr>
            <a:r>
              <a:t>[2] Second footnote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1828800" cy="109728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286000"/>
            <a:ext cx="1828800" cy="109728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1828800" cy="109728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Image-Heavy Slide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19456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931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Image 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3931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Image B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39319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Image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Bold text</a:t>
            </a:r>
          </a:p>
          <a:p>
            <a:pPr>
              <a:defRPr sz="1800" i="1"/>
            </a:pPr>
            <a:r>
              <a:t>Italic text</a:t>
            </a:r>
          </a:p>
          <a:p>
            <a:pPr>
              <a:defRPr sz="1800" u="sng"/>
            </a:pPr>
            <a:r>
              <a:t>Underlined text</a:t>
            </a:r>
          </a:p>
          <a:p>
            <a:pPr>
              <a:defRPr sz="1800"/>
            </a:pPr>
            <a:r>
              <a:t>Strikethrough text</a:t>
            </a:r>
          </a:p>
          <a:p>
            <a:pPr>
              <a:defRPr sz="1800">
                <a:solidFill>
                  <a:srgbClr val="FF0000"/>
                </a:solidFill>
              </a:defRPr>
            </a:pPr>
            <a:r>
              <a:t>Red colored text</a:t>
            </a:r>
          </a:p>
          <a:p>
            <a:pPr>
              <a:defRPr sz="1200"/>
            </a:pPr>
            <a:r>
              <a:t>Small text</a:t>
            </a:r>
          </a:p>
          <a:p>
            <a:pPr>
              <a:defRPr sz="2400"/>
            </a:pPr>
            <a:r>
              <a:t>Large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Nested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6400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Level 0 Item 1</a:t>
            </a:r>
          </a:p>
          <a:p>
            <a:pPr lvl="1">
              <a:defRPr sz="1250"/>
            </a:pPr>
            <a:r>
              <a:t>Level 1 Item 1.1</a:t>
            </a:r>
          </a:p>
          <a:p>
            <a:pPr lvl="2">
              <a:defRPr sz="1100"/>
            </a:pPr>
            <a:r>
              <a:t>Level 2 Item 1.1.1</a:t>
            </a:r>
          </a:p>
          <a:p>
            <a:pPr lvl="2">
              <a:defRPr sz="1100"/>
            </a:pPr>
            <a:r>
              <a:t>Level 2 Item 1.1.2</a:t>
            </a:r>
          </a:p>
          <a:p>
            <a:pPr lvl="1">
              <a:defRPr sz="1250"/>
            </a:pPr>
            <a:r>
              <a:t>Level 1 Item 1.2</a:t>
            </a:r>
          </a:p>
          <a:p>
            <a:pPr>
              <a:defRPr sz="1400"/>
            </a:pPr>
            <a:r>
              <a:t>Level 0 Item 2</a:t>
            </a:r>
          </a:p>
          <a:p>
            <a:pPr lvl="1">
              <a:defRPr sz="1250"/>
            </a:pPr>
            <a:r>
              <a:t>Level 1 Item 2.1</a:t>
            </a:r>
          </a:p>
          <a:p>
            <a:pPr lvl="2">
              <a:defRPr sz="1100"/>
            </a:pPr>
            <a:r>
              <a:t>Level 2 Item 2.1.1</a:t>
            </a:r>
          </a:p>
          <a:p>
            <a:pPr lvl="3">
              <a:defRPr sz="950"/>
            </a:pPr>
            <a:r>
              <a:t>Level 3 Item 2.1.1.a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001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6495E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Complex Layouts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Charts &amp; 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